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5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rgbClr val="BDBDBD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1212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Ozempic</c:v>
                </c:pt>
                <c:pt idx="1">
                  <c:v>Trulicity</c:v>
                </c:pt>
                <c:pt idx="2">
                  <c:v>Mounjaro</c:v>
                </c:pt>
                <c:pt idx="3">
                  <c:v>Rybelsus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38.9</c:v>
                </c:pt>
                <c:pt idx="1">
                  <c:v>54.6</c:v>
                </c:pt>
                <c:pt idx="2">
                  <c:v>0.5</c:v>
                </c:pt>
                <c:pt idx="3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1212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Ozempic</c:v>
                </c:pt>
                <c:pt idx="1">
                  <c:v>Trulicity</c:v>
                </c:pt>
                <c:pt idx="2">
                  <c:v>Mounjaro</c:v>
                </c:pt>
                <c:pt idx="3">
                  <c:v>Rybelsus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47.4</c:v>
                </c:pt>
                <c:pt idx="1">
                  <c:v>35.799999999999997</c:v>
                </c:pt>
                <c:pt idx="2">
                  <c:v>11.2</c:v>
                </c:pt>
                <c:pt idx="3">
                  <c:v>5.6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13534992"/>
        <c:axId val="214021208"/>
      </c:barChart>
      <c:catAx>
        <c:axId val="2135349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16161"/>
                </a:solidFill>
                <a:latin typeface="Arial"/>
              </a:defRPr>
            </a:pPr>
            <a:endParaRPr lang="en-US"/>
          </a:p>
        </c:txPr>
        <c:crossAx val="214021208"/>
        <c:crosses val="autoZero"/>
        <c:auto val="1"/>
        <c:lblAlgn val="ctr"/>
        <c:lblOffset val="100"/>
        <c:noMultiLvlLbl val="1"/>
      </c:catAx>
      <c:valAx>
        <c:axId val="214021208"/>
        <c:scaling>
          <c:orientation val="minMax"/>
          <c:max val="60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16161"/>
                </a:solidFill>
                <a:latin typeface="Arial"/>
              </a:defRPr>
            </a:pPr>
            <a:endParaRPr lang="en-US"/>
          </a:p>
        </c:txPr>
        <c:crossAx val="213534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Novo 2022</c:v>
                </c:pt>
              </c:strCache>
            </c:strRef>
          </c:tx>
          <c:spPr>
            <a:solidFill>
              <a:srgbClr val="B3C3E0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21212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 (D1-3)</c:v>
                </c:pt>
                <c:pt idx="1">
                  <c:v>Mid (D4-7)</c:v>
                </c:pt>
                <c:pt idx="2">
                  <c:v>High (D8-10)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</c:v>
                </c:pt>
                <c:pt idx="1">
                  <c:v>45</c:v>
                </c:pt>
                <c:pt idx="2">
                  <c:v>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Lilly 2022</c:v>
                </c:pt>
              </c:strCache>
            </c:strRef>
          </c:tx>
          <c:spPr>
            <a:solidFill>
              <a:srgbClr val="F8B89B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21212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 (D1-3)</c:v>
                </c:pt>
                <c:pt idx="1">
                  <c:v>Mid (D4-7)</c:v>
                </c:pt>
                <c:pt idx="2">
                  <c:v>High (D8-10)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53</c:v>
                </c:pt>
                <c:pt idx="1">
                  <c:v>55</c:v>
                </c:pt>
                <c:pt idx="2">
                  <c:v>58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Novo 2023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21212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 (D1-3)</c:v>
                </c:pt>
                <c:pt idx="1">
                  <c:v>Mid (D4-7)</c:v>
                </c:pt>
                <c:pt idx="2">
                  <c:v>High (D8-10)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55</c:v>
                </c:pt>
                <c:pt idx="1">
                  <c:v>53</c:v>
                </c:pt>
                <c:pt idx="2">
                  <c:v>51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Lilly 2023</c:v>
                </c:pt>
              </c:strCache>
            </c:strRef>
          </c:tx>
          <c:spPr>
            <a:solidFill>
              <a:srgbClr val="E65100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21212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 (D1-3)</c:v>
                </c:pt>
                <c:pt idx="1">
                  <c:v>Mid (D4-7)</c:v>
                </c:pt>
                <c:pt idx="2">
                  <c:v>High (D8-10)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45</c:v>
                </c:pt>
                <c:pt idx="1">
                  <c:v>47</c:v>
                </c:pt>
                <c:pt idx="2">
                  <c:v>49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13475624"/>
        <c:axId val="271911656"/>
      </c:barChart>
      <c:catAx>
        <c:axId val="2134756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16161"/>
                </a:solidFill>
                <a:latin typeface="Arial"/>
              </a:defRPr>
            </a:pPr>
            <a:endParaRPr lang="en-US"/>
          </a:p>
        </c:txPr>
        <c:crossAx val="271911656"/>
        <c:crosses val="autoZero"/>
        <c:auto val="1"/>
        <c:lblAlgn val="ctr"/>
        <c:lblOffset val="100"/>
        <c:noMultiLvlLbl val="1"/>
      </c:catAx>
      <c:valAx>
        <c:axId val="271911656"/>
        <c:scaling>
          <c:orientation val="minMax"/>
          <c:max val="70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16161"/>
                </a:solidFill>
                <a:latin typeface="Arial"/>
              </a:defRPr>
            </a:pPr>
            <a:endParaRPr lang="en-US"/>
          </a:p>
        </c:txPr>
        <c:crossAx val="213475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Mounjaro YoY Growth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1212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Alabama</c:v>
                </c:pt>
                <c:pt idx="1">
                  <c:v>Louisiana</c:v>
                </c:pt>
                <c:pt idx="2">
                  <c:v>Arkansas</c:v>
                </c:pt>
                <c:pt idx="3">
                  <c:v>Indiana</c:v>
                </c:pt>
                <c:pt idx="4">
                  <c:v>Georgia</c:v>
                </c:pt>
                <c:pt idx="5">
                  <c:v>Kentucky</c:v>
                </c:pt>
                <c:pt idx="6">
                  <c:v>Oklahoma</c:v>
                </c:pt>
                <c:pt idx="7">
                  <c:v>S. Carolina</c:v>
                </c:pt>
                <c:pt idx="8">
                  <c:v>Tennessee</c:v>
                </c:pt>
                <c:pt idx="9">
                  <c:v>Texas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23.7</c:v>
                </c:pt>
                <c:pt idx="1">
                  <c:v>21.8</c:v>
                </c:pt>
                <c:pt idx="2">
                  <c:v>18.8</c:v>
                </c:pt>
                <c:pt idx="3">
                  <c:v>18.3</c:v>
                </c:pt>
                <c:pt idx="4">
                  <c:v>18</c:v>
                </c:pt>
                <c:pt idx="5">
                  <c:v>17.8</c:v>
                </c:pt>
                <c:pt idx="6">
                  <c:v>17.2</c:v>
                </c:pt>
                <c:pt idx="7">
                  <c:v>17.100000000000001</c:v>
                </c:pt>
                <c:pt idx="8">
                  <c:v>15.4</c:v>
                </c:pt>
                <c:pt idx="9">
                  <c:v>15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72047264"/>
        <c:axId val="272047648"/>
      </c:barChart>
      <c:catAx>
        <c:axId val="27204726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12121"/>
                </a:solidFill>
                <a:latin typeface="Arial"/>
              </a:defRPr>
            </a:pPr>
            <a:endParaRPr lang="en-US"/>
          </a:p>
        </c:txPr>
        <c:crossAx val="272047648"/>
        <c:crosses val="autoZero"/>
        <c:auto val="1"/>
        <c:lblAlgn val="ctr"/>
        <c:lblOffset val="100"/>
        <c:noMultiLvlLbl val="1"/>
      </c:catAx>
      <c:valAx>
        <c:axId val="272047648"/>
        <c:scaling>
          <c:orientation val="minMax"/>
          <c:max val="30"/>
        </c:scaling>
        <c:delete val="0"/>
        <c:axPos val="b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16161"/>
                </a:solidFill>
                <a:latin typeface="Arial"/>
              </a:defRPr>
            </a:pPr>
            <a:endParaRPr lang="en-US"/>
          </a:p>
        </c:txPr>
        <c:crossAx val="2720472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0339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9455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STRATEGIC </a:t>
            </a:r>
            <a:r>
              <a:rPr lang="en-US" sz="900" kern="0" spc="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 </a:t>
            </a:r>
            <a:r>
              <a:rPr lang="en-US" sz="900" kern="0" spc="30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Medicare GLP-1 Competitive Landscape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Nordisk vs Eli Lilly  |  2022–2023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37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gained 8.1pp of market share in 2023 — but the win came from Trulicity's collapse, not from beating Mounjaro.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468880"/>
            <a:ext cx="267919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468880"/>
            <a:ext cx="73152" cy="1600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560320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2761488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Surface Win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127248"/>
            <a:ext cx="2404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Novo's share grew 44.9% → 53.0%. Lilly fell 55.1% → 47.0%. Headline: Novo won 2023.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27832" y="2468880"/>
            <a:ext cx="267919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27832" y="2468880"/>
            <a:ext cx="73152" cy="1600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10712" y="2560320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10712" y="2761488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Hidden Reality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10712" y="3127248"/>
            <a:ext cx="2404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Decile 10 (top 10% of prescribers writing 42% of volume), the battle is nearly even: Novo 51% / Lilly 49%.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89904" y="2468880"/>
            <a:ext cx="267919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89904" y="2468880"/>
            <a:ext cx="73152" cy="16002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2784" y="2560320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272784" y="2761488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Geographic Threat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72784" y="3127248"/>
            <a:ext cx="2404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Mounjaro grew 3x faster in Southern states. Alabama +23.7pp vs Massachusetts +7.9pp in D10.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2976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Tier-based geographic defense.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$200M  |  Defend $960M  |  ROI ~5x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956048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CMS Medicare Part D 2022–2023  |  Analysis: Self-initiated portfolio project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 |  WHY THIS CATEGORY, WHY NOW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680960" y="731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GLP-1: The Fastest-Growing Drug Category in US Healthcare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955743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Novo vs Lilly battle matters — and why 2023 was a pivotal year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6928" y="1970337"/>
            <a:ext cx="3922192" cy="22125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GLP-1 drugs treat Type 2 diabetes and obesity by regulating blood sugar and appetite.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diabetes GLP-1 market: ~$18.3B annually in 2023.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169,000+ doctors prescribed GLP-1 drugs to Medicare patients in 2023, writing 44.5M prescriptions.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rapidly as diabetes prevalence increases, especially in Southern US.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417320"/>
            <a:ext cx="0" cy="320040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958421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Novo Nordisk: Ozempic and Rybelsus. 2023 combined share: 53.0%.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2464503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Eli Lilly: Trulicity and Mounjaro. 2023 combined share: 47.0%.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32506" y="2961099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Trulicity: market leader in 2022 (54.6%). Collapsed to 35.8% in 2023 — lost 18.8pp in one year</a:t>
            </a: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3560079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Mounjaro: launched 2022 at 0.5%. Reached 11.2% by 2023 — 21x prescriber growth.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surface story is Novo winning. The real story is Trulicity collapsing and Mounjaro rising. This analysis separates the two.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956048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CMS Medicare Part D 2022–2023</a:t>
            </a:r>
            <a:endParaRPr lang="en-US" sz="700" dirty="0"/>
          </a:p>
        </p:txBody>
      </p:sp>
      <p:sp>
        <p:nvSpPr>
          <p:cNvPr id="18" name="Rectangle 17"/>
          <p:cNvSpPr/>
          <p:nvPr/>
        </p:nvSpPr>
        <p:spPr>
          <a:xfrm>
            <a:off x="548640" y="1417320"/>
            <a:ext cx="3702347" cy="36576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893013" y="1412943"/>
            <a:ext cx="3702347" cy="36576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654671" y="1467417"/>
            <a:ext cx="34046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bg1"/>
                </a:solidFill>
              </a:rPr>
              <a:t>THE CATEGORY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116749" y="1466202"/>
            <a:ext cx="32879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bg1"/>
                </a:solidFill>
              </a:rPr>
              <a:t>THE BATTLE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 |  HOW WE DID IT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680960" y="731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502,000 Prescriber Records to Strategic Recommendation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data, hypothesis-driven methodology, replicable findings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2743200" cy="32004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08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2560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Medicare Part D Prescribers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Years: </a:t>
            </a: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(187K) and 2023 (315K) rows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Prescribers: </a:t>
            </a: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169,404 unique in 2023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Brands: </a:t>
            </a: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Ozempic, Rybelsus, Trulicity, Mounjaro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</a:t>
            </a: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indication only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Power BI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0" y="1508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874520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49040" y="18562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Decile Framework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49040" y="21305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169K+ prescribers by GLP-1 volume. D10 = top 10% writing 42% of volume.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83280" y="2788920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49040" y="27706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Multi-Cut Analysis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49040" y="30449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dimensions: brand, company, specialty × decile, transitions, geography.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83280" y="3703320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49040" y="3685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49040" y="39593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3 hypotheses. Tested each. Retained survivors.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26480" y="1508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TESTED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26480" y="1874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evidence drives endo to Mounjaro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2240280"/>
            <a:ext cx="1371600" cy="2926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22402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26480" y="27889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coverage explains the pattern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3154680"/>
            <a:ext cx="1371600" cy="2926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31546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UNRESOLVED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26480" y="3703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Mounjaro is geographically concentrated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4069080"/>
            <a:ext cx="137160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40690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754880"/>
            <a:ext cx="8412480" cy="18288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956048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CMS Medicare Part D 2022–2023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 |  BRAND SHARE SHIFT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680960" y="731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Trulicity collapsed 18.8pp — Mounjaro absorbed more than Ozempic did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Lilly retained 57% of their declining brand's share via Mounjaro; Novo captured only 43%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1417320"/>
          <a:ext cx="51206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452628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 (%) — Medicare diabetes GLP-1 prescriptions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760720" y="14173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760720" y="1783080"/>
            <a:ext cx="228600" cy="2286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60720" y="1783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080760" y="176479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gained share. Ozempic absorbed 8.5pp of Trulicity's collapse.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760720" y="2606040"/>
            <a:ext cx="228600" cy="22860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60720" y="2606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80760" y="258775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Mounjaro absorbed 10.7pp — more than Ozempic captured.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760720" y="3429000"/>
            <a:ext cx="228600" cy="22860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60720" y="34290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080760" y="3410712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Mounjaro grew 21x in prescriber count (2,034 → 44,382 doctors in one year).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760720" y="4206240"/>
            <a:ext cx="301752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97880" y="4224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</a:t>
            </a: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Novo's strategy must address brand-vs-brand competition, not just market expansion.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65760" y="4956048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CMS Medicare Part D 2022–2023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  |  SHARE BY PRESCRIBER VOLUME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680960" y="731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Novo dominates low-volume — but the high-volume battle is nearly even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Decile 10 (42% of total volume), Novo leads by only 2pp (51% vs 49%) — the most fragile position</a:t>
            </a:r>
            <a:endParaRPr lang="en-US" sz="11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1417320"/>
          <a:ext cx="51206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443484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(%) by decile group — Novo vs Lilly, 2022 and 2023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760720" y="1417320"/>
            <a:ext cx="3017520" cy="82296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60720" y="1417320"/>
            <a:ext cx="73152" cy="822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97880" y="14630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VOLUME (D1-3)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897880" y="166420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wins by 10pp. These prescribers write 6% of total volume. Investment is relatively safe.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60720" y="2331720"/>
            <a:ext cx="3017520" cy="82296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60720" y="2331720"/>
            <a:ext cx="73152" cy="8229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97880" y="23774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VOLUME (D4-7)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897880" y="257860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leads by 6pp. Most of 2023 gain came from this segment via Trulicity's collapse.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760720" y="3246120"/>
            <a:ext cx="3017520" cy="82296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760720" y="3246120"/>
            <a:ext cx="73152" cy="8229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97880" y="32918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 (D8-10)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897880" y="349300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Novo's lead is only 2pp. 17K prescribers write 42% of volume. In 2022, Lilly led.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760720" y="4206240"/>
            <a:ext cx="3017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97880" y="42245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high-volume battle is where the $1.6B revenue is at risk.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4773168"/>
            <a:ext cx="5120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'Decile' = prescribers ranked by volume. Decile 10 = top 10%.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365760" y="4956048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CMS Medicare Part D 2022–2023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  |  GEOGRAPHIC CONCENTRATION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680960" y="731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Mounjaro's expansion is a Southern US phenomenon — not a national pattern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of the top 10 fastest-growing Mounjaro states are in the Southern US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1417320"/>
          <a:ext cx="51206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452628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states by Mounjaro YoY growth in Decile 10 (percentage points)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760720" y="1417320"/>
            <a:ext cx="3017520" cy="96012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60720" y="1417320"/>
            <a:ext cx="73152" cy="9601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97880" y="14813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89788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of top 10 Mounjaro states are in the Southern US. Indiana (Lilly's HQ state) is the only outlier.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60720" y="2514600"/>
            <a:ext cx="3017520" cy="9601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60720" y="2514600"/>
            <a:ext cx="73152" cy="960120"/>
          </a:xfrm>
          <a:prstGeom prst="rect">
            <a:avLst/>
          </a:prstGeom>
          <a:solidFill>
            <a:srgbClr val="616161"/>
          </a:solidFill>
          <a:ln w="12700">
            <a:solidFill>
              <a:srgbClr val="6161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97880" y="25786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SLOWEST ADOPTION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897880" y="2788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Massachusetts: +7.9pp — 3x slower than Alabama. Academic medical center culture may slow adoption.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760720" y="3611880"/>
            <a:ext cx="30175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97880" y="36576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FRAMEWORK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897880" y="3904488"/>
            <a:ext cx="137160" cy="1371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80760" y="38679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1: Strongholds (TX, CA, NY, FL)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897880" y="4114800"/>
            <a:ext cx="137160" cy="13716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80760" y="40782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2: Battlegrounds (AL, LA, TN, GA+)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897880" y="4325112"/>
            <a:ext cx="137160" cy="13716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80760" y="428853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3: Lilly dominant (MA, OH, MI)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65760" y="4956048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CMS Medicare Part D 2022–2023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 |  WHY THE LOSS IS HAPPENING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680960" y="731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structural drivers behind Mounjaro's high-volume Southern expansion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confirmed by data. One inferred but not directly testable.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BY DATA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691640"/>
            <a:ext cx="73152" cy="1417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83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Mounjaro's Clinical Advantage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Tirzepatide is a dual-receptor molecule. SURPASS-2 trial showed greater A1C reduction (2.0% vs 1.4%) and weight loss (12kg vs 6kg) vs Ozempic.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697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terms: Mounjaro is clinically more powerful for harder-to-control diabetes.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324612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246120"/>
            <a:ext cx="73152" cy="1417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337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Endocrinology Supply Is Fixed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61188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Endocrinology grew only +5% in prescriber count (2022→2023). Family Practice +32%, NPs +53%, PAs +43%. Losing an endo customer is permanent.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14173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INFERRED, NOT TESTABLE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691640"/>
            <a:ext cx="402336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1691640"/>
            <a:ext cx="73152" cy="29718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783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Lilly's Commercial Concentration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20574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Lilly's diabetes franchise has 100+ years of US presence and a historically strong field force. Mounjaro's launch was concentrated in high-volume prescribers from day one.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29260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Mounjaro's share doubles from 6% in low-volume to 13% in high-volume prescribers. The Southern geographic concentration also suggests targeted commercial execution.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37760" y="3886200"/>
            <a:ext cx="3840480" cy="68580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393192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</a:t>
            </a: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force allocation data is not in public CMS data. This driver is inferred, not directly tested.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4956048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CMS Medicare Part D 2022–2023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|  WHAT TO DO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680960" y="731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of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Tier-based geographic defense — concentrate where ROI is highest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Reallocate field force from low-volume coverage to tiered geographic priorities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8412480" cy="2590800"/>
        </p:xfrm>
        <a:graphic>
          <a:graphicData uri="http://schemas.openxmlformats.org/drawingml/2006/table">
            <a:tbl>
              <a:tblPr/>
              <a:tblGrid>
                <a:gridCol w="1188720"/>
                <a:gridCol w="1828800"/>
                <a:gridCol w="4297680"/>
                <a:gridCol w="1097280"/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INVESTMENT (3YR)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Stronghold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TX, CA, NY, FL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12-15 rep visits/yr on D10 prescribers. KOL programs. CV outcomes positioning (SELECT trial).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Southern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Battleground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AL, LA, TN, GA, IN, KY, OK, SC, 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Aggressive rep coverage matching Lilly. Head-to-head positioning. Real-world evidence.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Withdrawn /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MA, OH,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 minimum coverage only. Redirect resources to Tier 1 &amp; 2.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4087368"/>
            <a:ext cx="8412480" cy="8503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6"/>
          <p:cNvSpPr/>
          <p:nvPr/>
        </p:nvSpPr>
        <p:spPr>
          <a:xfrm>
            <a:off x="457200" y="4297680"/>
            <a:ext cx="17996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$200M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57200" y="46451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investment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514600" y="4297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C1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$1.6B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2514600" y="46451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0" y="4297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81C7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$960M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572000" y="46451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defended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629400" y="4297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~5x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629400" y="464515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ROI over 3 years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65760" y="4956048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CMS Medicare Part D 2022–2023</a:t>
            </a:r>
            <a:endParaRPr lang="en-US" sz="700" dirty="0"/>
          </a:p>
        </p:txBody>
      </p:sp>
      <p:sp>
        <p:nvSpPr>
          <p:cNvPr id="18" name="TextBox 17"/>
          <p:cNvSpPr txBox="1"/>
          <p:nvPr/>
        </p:nvSpPr>
        <p:spPr>
          <a:xfrm>
            <a:off x="855547" y="4069080"/>
            <a:ext cx="49713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ILLUSTRATIVE FINANCIAL SCENARIO BASED ON INDUSTRY ASSUMPTIONS</a:t>
            </a:r>
            <a:endParaRPr lang="en-US" sz="9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LIMITS  |  WHAT COULD BREAK THIS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680960" y="731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of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strategic risks and three data limitations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Intellectual honesty about what we know and don't know — with monitoring signals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4023360" cy="1417320"/>
          </a:xfrm>
          <a:prstGeom prst="rect">
            <a:avLst/>
          </a:prstGeom>
          <a:solidFill>
            <a:srgbClr val="FFF3E0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371600"/>
            <a:ext cx="73152" cy="14173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63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Advantage Too Large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783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Mounjaro's molecular advantage may be insurmountable through messaging alone.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331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DETECTION: </a:t>
            </a:r>
            <a:r>
              <a:rPr lang="en-US" sz="8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6-month rep frequency increases produce no measurable share shift in Tier 2 states.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4023360" cy="1417320"/>
          </a:xfrm>
          <a:prstGeom prst="rect">
            <a:avLst/>
          </a:prstGeom>
          <a:solidFill>
            <a:srgbClr val="FFF3E0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371600"/>
            <a:ext cx="73152" cy="14173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463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Lilly Matches Investment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1783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Lilly may match Novo's defensive intensity. Both companies escalate spend, margins erode.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2331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DETECTION: </a:t>
            </a:r>
            <a:r>
              <a:rPr lang="en-US" sz="8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Lilly increases Mounjaro rep frequency in Tier 1/2 states within 6 months.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2926080"/>
            <a:ext cx="4023360" cy="1417320"/>
          </a:xfrm>
          <a:prstGeom prst="rect">
            <a:avLst/>
          </a:prstGeom>
          <a:solidFill>
            <a:srgbClr val="FFF8E1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926080"/>
            <a:ext cx="73152" cy="141732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017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Patient Mix Intensifies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3375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Southern diabetes severity could expand Mounjaro's clinical edge over time.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886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DETECTION: </a:t>
            </a:r>
            <a:r>
              <a:rPr lang="en-US" sz="8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diabetes severity data showing accelerating Southern divergence.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54880" y="2926080"/>
            <a:ext cx="4023360" cy="1417320"/>
          </a:xfrm>
          <a:prstGeom prst="rect">
            <a:avLst/>
          </a:prstGeom>
          <a:solidFill>
            <a:srgbClr val="FFF8E1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2926080"/>
            <a:ext cx="73152" cy="141732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3017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Force Restructuring Fails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33375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Specialty-based to volume-based call planning is a high-failure change exercise.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3886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DETECTION: </a:t>
            </a:r>
            <a:r>
              <a:rPr lang="en-US" sz="8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metrics below 70% at the 9-month mark.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65760" y="4526280"/>
            <a:ext cx="8412480" cy="41148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5720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LIMITATIONS: </a:t>
            </a: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Mechanism behind volume-driven behavior unresolved without sales force data. (2) Forward projection assumes Mounjaro growth halves yearly — full pace = $3.2B at risk. (3) Covers Medicare diabetes only; obesity indication (Wegovy, Zepbound) is separate.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4956048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CMS Medicare Part D 2022–2023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 |  WHAT HAPPENS MONDAY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680960" y="731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of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90-day pilot in 3 states before national rollout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Test, measure, scale — verify whether geographic defense changes the trajectory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2788920" cy="2194560"/>
          </a:xfrm>
          <a:prstGeom prst="rect">
            <a:avLst/>
          </a:prstGeom>
          <a:solidFill>
            <a:srgbClr val="5670A0"/>
          </a:solidFill>
          <a:ln w="12700">
            <a:solidFill>
              <a:srgbClr val="5670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08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DAYS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DESIGN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103120"/>
            <a:ext cx="2514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3 pilot states (1 per tier)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 200 D10 prescribers per state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tiered rep coverage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baseline metrics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54680" y="1417320"/>
            <a:ext cx="2788920" cy="2194560"/>
          </a:xfrm>
          <a:prstGeom prst="rect">
            <a:avLst/>
          </a:prstGeom>
          <a:solidFill>
            <a:srgbClr val="3A5388"/>
          </a:solidFill>
          <a:ln w="12700">
            <a:solidFill>
              <a:srgbClr val="3A53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508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30–90 DAYS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178308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EXECUTION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2103120"/>
            <a:ext cx="2514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tiered rep coverage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CV outcomes (SELECT) messaging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weekly D10 share movement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Lilly response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0" y="1417320"/>
            <a:ext cx="2788920" cy="2194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1508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90+ DAYS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80760" y="178308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DECISION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80760" y="2103120"/>
            <a:ext cx="2514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2pp+ recovery → expand Tier 1/2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shift → revisit assumptions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internal RWE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quarterly investment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749040"/>
          <a:ext cx="54864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05840"/>
                <a:gridCol w="1280160"/>
                <a:gridCol w="1554480"/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12-MONTH 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D10 share (Tier 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51% avg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Defend strongholds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D10 share (Tier 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49% avg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Flip battlegrounds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Mounjaro growth (Tier 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+17.5pp avg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&lt;10pp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the bleeding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6035040" y="3749040"/>
            <a:ext cx="2743200" cy="109728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72200" y="384048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172200" y="40690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12-24 months for defensive action.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172200" y="43434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high-volume prescribers commit to Mounjaro (85% retention rate), recovery becomes structurally difficult.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65760" y="4956048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CMS Medicare Part D 2022–2023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1680</Words>
  <Application>Microsoft Office PowerPoint</Application>
  <PresentationFormat>On-screen Show (16:9)</PresentationFormat>
  <Paragraphs>232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 Math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Medicare GLP-1 Competitive Analysis - Novo vs Lilly</dc:title>
  <dc:subject>PptxGenJS Presentation</dc:subject>
  <dc:creator>Aditi Ghosh</dc:creator>
  <cp:lastModifiedBy>ADMIN</cp:lastModifiedBy>
  <cp:revision>4</cp:revision>
  <dcterms:created xsi:type="dcterms:W3CDTF">2026-05-19T08:07:08Z</dcterms:created>
  <dcterms:modified xsi:type="dcterms:W3CDTF">2026-05-20T08:05:30Z</dcterms:modified>
</cp:coreProperties>
</file>